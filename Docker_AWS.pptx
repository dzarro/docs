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7" r:id="rId2"/>
  </p:sldMasterIdLst>
  <p:notesMasterIdLst>
    <p:notesMasterId r:id="rId17"/>
  </p:notesMasterIdLst>
  <p:handoutMasterIdLst>
    <p:handoutMasterId r:id="rId18"/>
  </p:handoutMasterIdLst>
  <p:sldIdLst>
    <p:sldId id="256" r:id="rId3"/>
    <p:sldId id="281" r:id="rId4"/>
    <p:sldId id="300" r:id="rId5"/>
    <p:sldId id="298" r:id="rId6"/>
    <p:sldId id="299" r:id="rId7"/>
    <p:sldId id="331" r:id="rId8"/>
    <p:sldId id="322" r:id="rId9"/>
    <p:sldId id="323" r:id="rId10"/>
    <p:sldId id="302" r:id="rId11"/>
    <p:sldId id="324" r:id="rId12"/>
    <p:sldId id="325" r:id="rId13"/>
    <p:sldId id="329" r:id="rId14"/>
    <p:sldId id="328" r:id="rId15"/>
    <p:sldId id="326" r:id="rId1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rosoft Corp.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0" autoAdjust="0"/>
    <p:restoredTop sz="89373" autoAdjust="0"/>
  </p:normalViewPr>
  <p:slideViewPr>
    <p:cSldViewPr>
      <p:cViewPr varScale="1">
        <p:scale>
          <a:sx n="66" d="100"/>
          <a:sy n="66" d="100"/>
        </p:scale>
        <p:origin x="95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699" cy="479403"/>
          </a:xfrm>
          <a:prstGeom prst="rect">
            <a:avLst/>
          </a:prstGeom>
        </p:spPr>
        <p:txBody>
          <a:bodyPr vert="horz" lIns="95006" tIns="47503" rIns="95006" bIns="4750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843" y="0"/>
            <a:ext cx="3169699" cy="479403"/>
          </a:xfrm>
          <a:prstGeom prst="rect">
            <a:avLst/>
          </a:prstGeom>
        </p:spPr>
        <p:txBody>
          <a:bodyPr vert="horz" lIns="95006" tIns="47503" rIns="95006" bIns="47503" rtlCol="0"/>
          <a:lstStyle>
            <a:lvl1pPr algn="r">
              <a:defRPr sz="1200"/>
            </a:lvl1pPr>
          </a:lstStyle>
          <a:p>
            <a:fld id="{39DB16EA-91C0-4C61-8D3F-9927D4C6B27B}" type="datetimeFigureOut">
              <a:rPr lang="en-US" smtClean="0"/>
              <a:pPr/>
              <a:t>6/21/2018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56"/>
            <a:ext cx="3169699" cy="479403"/>
          </a:xfrm>
          <a:prstGeom prst="rect">
            <a:avLst/>
          </a:prstGeom>
        </p:spPr>
        <p:txBody>
          <a:bodyPr vert="horz" lIns="95006" tIns="47503" rIns="95006" bIns="4750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843" y="9120156"/>
            <a:ext cx="3169699" cy="479403"/>
          </a:xfrm>
          <a:prstGeom prst="rect">
            <a:avLst/>
          </a:prstGeom>
        </p:spPr>
        <p:txBody>
          <a:bodyPr vert="horz" lIns="95006" tIns="47503" rIns="95006" bIns="47503" rtlCol="0" anchor="b"/>
          <a:lstStyle>
            <a:lvl1pPr algn="r">
              <a:defRPr sz="1200"/>
            </a:lvl1pPr>
          </a:lstStyle>
          <a:p>
            <a:fld id="{AF35303B-3797-4E6E-9908-8E6C2845A9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37203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699" cy="47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defTabSz="966556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843" y="0"/>
            <a:ext cx="3169699" cy="47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>
            <a:lvl1pPr algn="r" defTabSz="966556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53" y="4560899"/>
            <a:ext cx="5851496" cy="43195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50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56"/>
            <a:ext cx="3169699" cy="47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defTabSz="966556" eaLnBrk="1" hangingPunct="1">
              <a:defRPr sz="1200"/>
            </a:lvl1pPr>
          </a:lstStyle>
          <a:p>
            <a:endParaRPr lang="en-US"/>
          </a:p>
        </p:txBody>
      </p:sp>
      <p:sp>
        <p:nvSpPr>
          <p:cNvPr id="450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843" y="9120156"/>
            <a:ext cx="3169699" cy="479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57" tIns="48328" rIns="96657" bIns="48328" numCol="1" anchor="b" anchorCtr="0" compatLnSpc="1">
            <a:prstTxWarp prst="textNoShape">
              <a:avLst/>
            </a:prstTxWarp>
          </a:bodyPr>
          <a:lstStyle>
            <a:lvl1pPr algn="r" defTabSz="966556" eaLnBrk="1" hangingPunct="1">
              <a:defRPr sz="1200"/>
            </a:lvl1pPr>
          </a:lstStyle>
          <a:p>
            <a:fld id="{C6D3DD33-1C77-4963-91F2-833B8478F48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254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6861D7-B888-4E58-9449-0462FF56318C}" type="slidenum">
              <a:rPr lang="en-US"/>
              <a:pPr/>
              <a:t>1</a:t>
            </a:fld>
            <a:endParaRPr 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to add notes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3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4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5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6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7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938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8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713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9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10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616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11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435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12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435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E0AEB6-1D15-4738-BF8C-1B9116A29AE2}" type="slidenum">
              <a:rPr lang="en-US"/>
              <a:pPr/>
              <a:t>13</a:t>
            </a:fld>
            <a:endParaRPr lang="en-US"/>
          </a:p>
        </p:txBody>
      </p:sp>
      <p:sp>
        <p:nvSpPr>
          <p:cNvPr id="4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buFontTx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643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4148E-0E63-42EB-BE18-2F6E6BBA5E1C}" type="slidenum">
              <a:rPr lang="en-US" altLang="en-US" smtClean="0"/>
              <a:pPr/>
              <a:t>‹#›</a:t>
            </a:fld>
            <a:endParaRPr lang="en-US" altLang="en-US"/>
          </a:p>
        </p:txBody>
      </p:sp>
      <p:grpSp>
        <p:nvGrpSpPr>
          <p:cNvPr id="7" name="Group 41" descr="decorative graphic made up of dots"/>
          <p:cNvGrpSpPr>
            <a:grpSpLocks/>
          </p:cNvGrpSpPr>
          <p:nvPr userDrawn="1"/>
        </p:nvGrpSpPr>
        <p:grpSpPr bwMode="auto">
          <a:xfrm>
            <a:off x="7467600" y="1219200"/>
            <a:ext cx="792163" cy="1295400"/>
            <a:chOff x="5136" y="960"/>
            <a:chExt cx="528" cy="864"/>
          </a:xfrm>
        </p:grpSpPr>
        <p:sp>
          <p:nvSpPr>
            <p:cNvPr id="8" name="Oval 42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Oval 43"/>
            <p:cNvSpPr>
              <a:spLocks noChangeArrowheads="1"/>
            </p:cNvSpPr>
            <p:nvPr/>
          </p:nvSpPr>
          <p:spPr bwMode="auto">
            <a:xfrm>
              <a:off x="5248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Oval 44"/>
            <p:cNvSpPr>
              <a:spLocks noChangeArrowheads="1"/>
            </p:cNvSpPr>
            <p:nvPr/>
          </p:nvSpPr>
          <p:spPr bwMode="auto">
            <a:xfrm>
              <a:off x="5360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Oval 45"/>
            <p:cNvSpPr>
              <a:spLocks noChangeArrowheads="1"/>
            </p:cNvSpPr>
            <p:nvPr/>
          </p:nvSpPr>
          <p:spPr bwMode="auto">
            <a:xfrm>
              <a:off x="5136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Oval 46"/>
            <p:cNvSpPr>
              <a:spLocks noChangeArrowheads="1"/>
            </p:cNvSpPr>
            <p:nvPr/>
          </p:nvSpPr>
          <p:spPr bwMode="auto">
            <a:xfrm>
              <a:off x="5248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Oval 47"/>
            <p:cNvSpPr>
              <a:spLocks noChangeArrowheads="1"/>
            </p:cNvSpPr>
            <p:nvPr/>
          </p:nvSpPr>
          <p:spPr bwMode="auto">
            <a:xfrm>
              <a:off x="5360" y="1072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Oval 48"/>
            <p:cNvSpPr>
              <a:spLocks noChangeArrowheads="1"/>
            </p:cNvSpPr>
            <p:nvPr/>
          </p:nvSpPr>
          <p:spPr bwMode="auto">
            <a:xfrm>
              <a:off x="5472" y="1072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Oval 49"/>
            <p:cNvSpPr>
              <a:spLocks noChangeArrowheads="1"/>
            </p:cNvSpPr>
            <p:nvPr/>
          </p:nvSpPr>
          <p:spPr bwMode="auto">
            <a:xfrm>
              <a:off x="5136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Oval 50"/>
            <p:cNvSpPr>
              <a:spLocks noChangeArrowheads="1"/>
            </p:cNvSpPr>
            <p:nvPr/>
          </p:nvSpPr>
          <p:spPr bwMode="auto">
            <a:xfrm>
              <a:off x="5248" y="1184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Oval 51"/>
            <p:cNvSpPr>
              <a:spLocks noChangeArrowheads="1"/>
            </p:cNvSpPr>
            <p:nvPr/>
          </p:nvSpPr>
          <p:spPr bwMode="auto">
            <a:xfrm>
              <a:off x="5360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Oval 52"/>
            <p:cNvSpPr>
              <a:spLocks noChangeArrowheads="1"/>
            </p:cNvSpPr>
            <p:nvPr/>
          </p:nvSpPr>
          <p:spPr bwMode="auto">
            <a:xfrm>
              <a:off x="5472" y="1184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Oval 53"/>
            <p:cNvSpPr>
              <a:spLocks noChangeArrowheads="1"/>
            </p:cNvSpPr>
            <p:nvPr/>
          </p:nvSpPr>
          <p:spPr bwMode="auto">
            <a:xfrm>
              <a:off x="5584" y="1184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Oval 54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Oval 55"/>
            <p:cNvSpPr>
              <a:spLocks noChangeArrowheads="1"/>
            </p:cNvSpPr>
            <p:nvPr/>
          </p:nvSpPr>
          <p:spPr bwMode="auto">
            <a:xfrm>
              <a:off x="5248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Oval 56"/>
            <p:cNvSpPr>
              <a:spLocks noChangeArrowheads="1"/>
            </p:cNvSpPr>
            <p:nvPr/>
          </p:nvSpPr>
          <p:spPr bwMode="auto">
            <a:xfrm>
              <a:off x="5360" y="1296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Oval 57"/>
            <p:cNvSpPr>
              <a:spLocks noChangeArrowheads="1"/>
            </p:cNvSpPr>
            <p:nvPr/>
          </p:nvSpPr>
          <p:spPr bwMode="auto">
            <a:xfrm>
              <a:off x="5472" y="1296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Oval 58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Oval 59"/>
            <p:cNvSpPr>
              <a:spLocks noChangeArrowheads="1"/>
            </p:cNvSpPr>
            <p:nvPr/>
          </p:nvSpPr>
          <p:spPr bwMode="auto">
            <a:xfrm>
              <a:off x="5248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Oval 60"/>
            <p:cNvSpPr>
              <a:spLocks noChangeArrowheads="1"/>
            </p:cNvSpPr>
            <p:nvPr/>
          </p:nvSpPr>
          <p:spPr bwMode="auto">
            <a:xfrm>
              <a:off x="5360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Oval 61"/>
            <p:cNvSpPr>
              <a:spLocks noChangeArrowheads="1"/>
            </p:cNvSpPr>
            <p:nvPr/>
          </p:nvSpPr>
          <p:spPr bwMode="auto">
            <a:xfrm>
              <a:off x="5472" y="1408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Oval 62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Oval 63"/>
            <p:cNvSpPr>
              <a:spLocks noChangeArrowheads="1"/>
            </p:cNvSpPr>
            <p:nvPr/>
          </p:nvSpPr>
          <p:spPr bwMode="auto">
            <a:xfrm>
              <a:off x="5136" y="1520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64"/>
            <p:cNvSpPr>
              <a:spLocks noChangeArrowheads="1"/>
            </p:cNvSpPr>
            <p:nvPr/>
          </p:nvSpPr>
          <p:spPr bwMode="auto">
            <a:xfrm>
              <a:off x="5248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Oval 65"/>
            <p:cNvSpPr>
              <a:spLocks noChangeArrowheads="1"/>
            </p:cNvSpPr>
            <p:nvPr/>
          </p:nvSpPr>
          <p:spPr bwMode="auto">
            <a:xfrm>
              <a:off x="5360" y="1520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Oval 66"/>
            <p:cNvSpPr>
              <a:spLocks noChangeArrowheads="1"/>
            </p:cNvSpPr>
            <p:nvPr/>
          </p:nvSpPr>
          <p:spPr bwMode="auto">
            <a:xfrm>
              <a:off x="5472" y="1520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Oval 67"/>
            <p:cNvSpPr>
              <a:spLocks noChangeArrowheads="1"/>
            </p:cNvSpPr>
            <p:nvPr/>
          </p:nvSpPr>
          <p:spPr bwMode="auto">
            <a:xfrm>
              <a:off x="5136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Oval 68"/>
            <p:cNvSpPr>
              <a:spLocks noChangeArrowheads="1"/>
            </p:cNvSpPr>
            <p:nvPr/>
          </p:nvSpPr>
          <p:spPr bwMode="auto">
            <a:xfrm>
              <a:off x="5248" y="1632"/>
              <a:ext cx="80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Oval 69"/>
            <p:cNvSpPr>
              <a:spLocks noChangeArrowheads="1"/>
            </p:cNvSpPr>
            <p:nvPr/>
          </p:nvSpPr>
          <p:spPr bwMode="auto">
            <a:xfrm>
              <a:off x="5360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Oval 70"/>
            <p:cNvSpPr>
              <a:spLocks noChangeArrowheads="1"/>
            </p:cNvSpPr>
            <p:nvPr/>
          </p:nvSpPr>
          <p:spPr bwMode="auto">
            <a:xfrm>
              <a:off x="5472" y="1632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Oval 71"/>
            <p:cNvSpPr>
              <a:spLocks noChangeArrowheads="1"/>
            </p:cNvSpPr>
            <p:nvPr/>
          </p:nvSpPr>
          <p:spPr bwMode="auto">
            <a:xfrm>
              <a:off x="5248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Oval 72"/>
            <p:cNvSpPr>
              <a:spLocks noChangeArrowheads="1"/>
            </p:cNvSpPr>
            <p:nvPr/>
          </p:nvSpPr>
          <p:spPr bwMode="auto">
            <a:xfrm>
              <a:off x="5472" y="1744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5AE15-FA3C-4B48-B58A-B66292DF158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090CA-D5D8-4D58-A3CB-7C2599422589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CD455-FD93-4C4D-BE1C-F541C8EAE3B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2DDAB-2A89-4C10-890B-91AE9F344F9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75DFD-1CEE-466C-8186-A858E7059066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08515-2FBF-4029-9F32-55248CCAD54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9BB04-D831-494D-9EC6-12182BA7921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03B1F-D7BD-4F3F-86C6-061E6B7D078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6D3BF0-99ED-4177-9A49-E99EA1D2CD1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2F9A9-E0F8-4D1E-B6DF-36DE2EFF44B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en-US"/>
              <a:t>Lesson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4FAC1-E5EA-4F37-AC9C-EC20A35775CF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fre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ws.amazon.com/ec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get-starte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985471"/>
            <a:ext cx="6096000" cy="16764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latin typeface="Arial" pitchFamily="34" charset="0"/>
                <a:cs typeface="Arial" pitchFamily="34" charset="0"/>
              </a:rPr>
              <a:t>Running Docker Apps in the AWS Cloud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" pitchFamily="34" charset="0"/>
                <a:cs typeface="Arial" pitchFamily="34" charset="0"/>
              </a:rPr>
              <a:t>      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5800" y="2819400"/>
            <a:ext cx="7772400" cy="80799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Dominic </a:t>
            </a:r>
            <a:r>
              <a:rPr lang="en-US" sz="2800" dirty="0" err="1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Zarro</a:t>
            </a:r>
            <a:r>
              <a:rPr lang="en-US" sz="28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(ADNET Systems, Inc.)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00" y="3810000"/>
            <a:ext cx="43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SESDA Data Center CIG</a:t>
            </a:r>
          </a:p>
          <a:p>
            <a:r>
              <a:rPr lang="en-US" dirty="0"/>
              <a:t>June 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85800" y="828020"/>
            <a:ext cx="8229600" cy="4419600"/>
          </a:xfrm>
        </p:spPr>
        <p:txBody>
          <a:bodyPr>
            <a:normAutofit/>
          </a:bodyPr>
          <a:lstStyle/>
          <a:p>
            <a:pPr marL="624078" indent="-514350">
              <a:buClr>
                <a:schemeClr val="tx1"/>
              </a:buClr>
              <a:buSzPct val="100000"/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lnSpc>
                <a:spcPct val="90000"/>
              </a:lnSpc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Setting up an AWS EC2 instance</a:t>
            </a: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Running Docker</a:t>
            </a: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Running a Docker Python app</a:t>
            </a:r>
          </a:p>
          <a:p>
            <a:pPr marL="365760" lvl="1" indent="-256032"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109728" lvl="1" indent="0">
              <a:spcBef>
                <a:spcPts val="400"/>
              </a:spcBef>
              <a:buClrTx/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365760" lvl="1" indent="-256032">
              <a:spcBef>
                <a:spcPts val="400"/>
              </a:spcBef>
              <a:buClrTx/>
              <a:buSzPct val="100000"/>
              <a:buFont typeface="Arial" pitchFamily="34" charset="0"/>
              <a:buChar char="•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Distributing a Docker image</a:t>
            </a: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880110" lvl="1" indent="-514350">
              <a:buClr>
                <a:schemeClr val="tx1"/>
              </a:buClr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624078" indent="-514350">
              <a:buClr>
                <a:schemeClr val="tx1"/>
              </a:buClr>
              <a:buSzPct val="100000"/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624078" indent="-514350">
              <a:buClr>
                <a:schemeClr val="tx1"/>
              </a:buClr>
              <a:buSzPct val="100000"/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624078" indent="-514350">
              <a:buClr>
                <a:schemeClr val="tx1"/>
              </a:buClr>
              <a:buSzPct val="100000"/>
              <a:buFont typeface="Wingdings" pitchFamily="2" charset="2"/>
              <a:buChar char="q"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marL="624078" indent="-514350">
              <a:buClr>
                <a:schemeClr val="tx1"/>
              </a:buClr>
              <a:buSzPct val="100000"/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  <a:p>
            <a:pPr lvl="2">
              <a:buClr>
                <a:schemeClr val="tx1"/>
              </a:buClr>
              <a:buNone/>
            </a:pPr>
            <a:endParaRPr lang="en-US" dirty="0"/>
          </a:p>
          <a:p>
            <a:pPr lvl="1">
              <a:buNone/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667000" y="304800"/>
            <a:ext cx="312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84579" y="838200"/>
            <a:ext cx="8381999" cy="5715000"/>
          </a:xfrm>
        </p:spPr>
        <p:txBody>
          <a:bodyPr>
            <a:normAutofit/>
          </a:bodyPr>
          <a:lstStyle/>
          <a:p>
            <a:pPr marL="0" indent="0">
              <a:buSzPct val="100000"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Apply for 12 month free-tier account:</a:t>
            </a:r>
          </a:p>
          <a:p>
            <a:pPr marL="800100" lvl="2" indent="0">
              <a:buSzPct val="100000"/>
              <a:buNone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  <a:hlinkClick r:id="rId3"/>
              </a:rPr>
              <a:t>https://aws.amazon.com/free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800100" lvl="2" indent="0">
              <a:buSzPct val="100000"/>
              <a:buNone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0" indent="0">
              <a:buSzPct val="100000"/>
              <a:buNone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2.    Create Elastic Compute Cloud (EC2) instance:</a:t>
            </a:r>
          </a:p>
          <a:p>
            <a:pPr marL="800100" lvl="2" indent="0">
              <a:buSzPct val="100000"/>
              <a:buNone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  <a:hlinkClick r:id="rId4"/>
              </a:rPr>
              <a:t>https://aws.amazon.com/ec2</a:t>
            </a: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Up to 750 hours per month of Linux (or Windows) server uptime with 1 GB memory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Up to 30 GB of permanent block storage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Up to15 GB of bandwidth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228600"/>
            <a:ext cx="65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Setting up  AWS EC2 instance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71889" y="228600"/>
            <a:ext cx="358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   Docker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C2A64F-B0C6-4BB2-8BD6-8D186B04E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is Docker?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Docker is a platform to develop, deploy, and run applications within containers:</a:t>
            </a: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https://docs.docker.com/get-started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is a Docker Container?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container is a running Docker image. 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What is a Docker Image?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An image is an executable package that includes everything needed to run an application--the code, a runtime, libraries, environment variables, and configuration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8892" y="206624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Docker Background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D816C5-D773-46B4-A44A-4437BF7AC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3" y="838200"/>
            <a:ext cx="7391393" cy="228600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Why use Docker?</a:t>
            </a:r>
          </a:p>
          <a:p>
            <a:pPr marL="0" indent="0">
              <a:buNone/>
            </a:pP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Flexible: Complex applications can be containerized.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Lightweight: Containers leverage and share the host kernel.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Portable: Build images locally, deploy to the cloud, and run anywhere.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Distributed: Access Docker Hub registry for pre-built and tested images: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https://hub.docker.com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9DCBE52-3DE1-40D1-975C-C40ED8775B36}"/>
              </a:ext>
            </a:extLst>
          </p:cNvPr>
          <p:cNvGrpSpPr/>
          <p:nvPr/>
        </p:nvGrpSpPr>
        <p:grpSpPr>
          <a:xfrm>
            <a:off x="948380" y="3551359"/>
            <a:ext cx="7253025" cy="3078041"/>
            <a:chOff x="1143000" y="3387291"/>
            <a:chExt cx="7253025" cy="3078041"/>
          </a:xfrm>
        </p:grpSpPr>
        <p:pic>
          <p:nvPicPr>
            <p:cNvPr id="1026" name="Picture 2" descr="Container stack example">
              <a:extLst>
                <a:ext uri="{FF2B5EF4-FFF2-40B4-BE49-F238E27FC236}">
                  <a16:creationId xmlns:a16="http://schemas.microsoft.com/office/drawing/2014/main" id="{ECEC144E-E06E-4551-878F-DABCB37260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3387291"/>
              <a:ext cx="2681025" cy="24039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2" descr="Container stack example">
              <a:extLst>
                <a:ext uri="{FF2B5EF4-FFF2-40B4-BE49-F238E27FC236}">
                  <a16:creationId xmlns:a16="http://schemas.microsoft.com/office/drawing/2014/main" id="{284BE0C5-F6D0-41FD-9AC2-3DB7CA4E04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5000" y="3435697"/>
              <a:ext cx="2681025" cy="24039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Arrow: Right 2">
              <a:extLst>
                <a:ext uri="{FF2B5EF4-FFF2-40B4-BE49-F238E27FC236}">
                  <a16:creationId xmlns:a16="http://schemas.microsoft.com/office/drawing/2014/main" id="{86AB96B6-4A73-49CF-B428-E883D4D087B2}"/>
                </a:ext>
              </a:extLst>
            </p:cNvPr>
            <p:cNvSpPr/>
            <p:nvPr/>
          </p:nvSpPr>
          <p:spPr>
            <a:xfrm>
              <a:off x="4391102" y="3886200"/>
              <a:ext cx="978408" cy="48463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80E0828-CF5C-43FF-8019-859B7D7BEC0F}"/>
                </a:ext>
              </a:extLst>
            </p:cNvPr>
            <p:cNvSpPr txBox="1"/>
            <p:nvPr/>
          </p:nvSpPr>
          <p:spPr>
            <a:xfrm>
              <a:off x="4361683" y="3536975"/>
              <a:ext cx="97840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/>
                <a:t>Export App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B0934CE-AE58-4A14-9B68-B8620CF8B16F}"/>
                </a:ext>
              </a:extLst>
            </p:cNvPr>
            <p:cNvSpPr txBox="1"/>
            <p:nvPr/>
          </p:nvSpPr>
          <p:spPr>
            <a:xfrm>
              <a:off x="1676400" y="6096000"/>
              <a:ext cx="136447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Local Host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D6F34E-9F24-4274-BEC2-4CB53E652958}"/>
                </a:ext>
              </a:extLst>
            </p:cNvPr>
            <p:cNvSpPr txBox="1"/>
            <p:nvPr/>
          </p:nvSpPr>
          <p:spPr>
            <a:xfrm>
              <a:off x="6251445" y="6096000"/>
              <a:ext cx="16081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Remote Host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8892" y="206624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Docker Background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D816C5-D773-46B4-A44A-4437BF7AC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3" y="794348"/>
            <a:ext cx="7391393" cy="259685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How does Docker differ from a virtual machine (VM)?</a:t>
            </a: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VM runs full-blown “guest” operating system with virtual access to host resources.</a:t>
            </a:r>
          </a:p>
          <a:p>
            <a:pPr marL="45720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VM provides  environment with more resources than most applications need.</a:t>
            </a:r>
          </a:p>
        </p:txBody>
      </p:sp>
      <p:pic>
        <p:nvPicPr>
          <p:cNvPr id="9" name="Picture 2" descr="Virtual machine stack examp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533" y="3657600"/>
            <a:ext cx="3202336" cy="2877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093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4100" y="152400"/>
            <a:ext cx="449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Docker Example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D816C5-D773-46B4-A44A-4437BF7AC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7924800" cy="5562600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Amazon Linux has Docker pre-installed</a:t>
            </a:r>
          </a:p>
          <a:p>
            <a:pPr marL="400050" lvl="1" indent="0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$ docker info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Containers: 42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Running: 0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Paused: 0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Stopped: 42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Images: 25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  <a:cs typeface="Arial" panose="020B0604020202020204" pitchFamily="34" charset="0"/>
              </a:rPr>
              <a:t> Server Version: 18.03.1-ce</a:t>
            </a:r>
          </a:p>
          <a:p>
            <a:pPr marL="0" indent="0">
              <a:buNone/>
            </a:pPr>
            <a:endParaRPr lang="en-US" sz="19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Run Hello World  (pre-built image from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Docker Hub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endParaRPr lang="en-US" sz="3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$ docker run hello-world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Unable to find image '</a:t>
            </a:r>
            <a:r>
              <a:rPr lang="en-US" sz="2200" dirty="0" err="1">
                <a:latin typeface="Consolas" panose="020B0609020204030204" pitchFamily="49" charset="0"/>
              </a:rPr>
              <a:t>hello-world:latest</a:t>
            </a:r>
            <a:r>
              <a:rPr lang="en-US" sz="2200" dirty="0">
                <a:latin typeface="Consolas" panose="020B0609020204030204" pitchFamily="49" charset="0"/>
              </a:rPr>
              <a:t>' locally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latest: Pulling from library/hello-world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9bb5a5d4561a: Already exists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Digest: sha256:f5233545e43561214ca4891fd1157e1c3c563316ed8e237750d59bde73361e77</a:t>
            </a: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Status: Downloaded newer image for </a:t>
            </a:r>
            <a:r>
              <a:rPr lang="en-US" sz="2200" dirty="0" err="1">
                <a:latin typeface="Consolas" panose="020B0609020204030204" pitchFamily="49" charset="0"/>
              </a:rPr>
              <a:t>hello-world:latest</a:t>
            </a:r>
            <a:endParaRPr lang="en-US" sz="2200" dirty="0"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endParaRPr lang="en-US" sz="2200" dirty="0">
              <a:latin typeface="Consolas" panose="020B0609020204030204" pitchFamily="49" charset="0"/>
            </a:endParaRPr>
          </a:p>
          <a:p>
            <a:pPr marL="400050" lvl="1" indent="0">
              <a:buNone/>
            </a:pPr>
            <a:r>
              <a:rPr lang="en-US" sz="2200" dirty="0">
                <a:latin typeface="Consolas" panose="020B0609020204030204" pitchFamily="49" charset="0"/>
              </a:rPr>
              <a:t>Hello from Docker!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2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600" y="76200"/>
            <a:ext cx="541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Build a Docker Image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2D816C5-D773-46B4-A44A-4437BF7AC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38200"/>
            <a:ext cx="7391393" cy="5801380"/>
          </a:xfrm>
        </p:spPr>
        <p:txBody>
          <a:bodyPr>
            <a:normAutofit/>
          </a:bodyPr>
          <a:lstStyle/>
          <a:p>
            <a:pPr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Create a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(simple instruction text)</a:t>
            </a:r>
          </a:p>
          <a:p>
            <a:pPr marL="400050" lvl="1" indent="0">
              <a:buNone/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FROM python:3      # pull latest Python 3 image from Hub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CMD ["python"]     # run this command when running image</a:t>
            </a:r>
          </a:p>
          <a:p>
            <a:pPr marL="800100" lvl="2" indent="0">
              <a:buNone/>
            </a:pPr>
            <a:endParaRPr lang="en-US" sz="28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857250" lvl="1" indent="-4572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Build Docker Image (in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Dockerfile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directory)</a:t>
            </a:r>
          </a:p>
          <a:p>
            <a:pPr marL="40005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$ docker build –t python3 .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Sending build context to Docker daemon  8.192kB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Step 1/2 : FROM python:3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---&gt; a5b7afcfdcc8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Step 2/2 : CMD [ "python"]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---&gt; Running in e612cb3c4d5a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Removing intermediate container e612cb3c4d5a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---&gt; 697d84845520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Successfully built 697d84845520</a:t>
            </a:r>
          </a:p>
          <a:p>
            <a:pPr marL="800100" lvl="2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Successfully tagged python3:latest</a:t>
            </a:r>
          </a:p>
          <a:p>
            <a:pPr marL="0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7622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286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 Run Docker Image in Container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838200" y="908616"/>
            <a:ext cx="8382000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Verify image was created</a:t>
            </a:r>
          </a:p>
          <a:p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$ docker images</a:t>
            </a:r>
          </a:p>
          <a:p>
            <a:pPr lvl="1"/>
            <a:endParaRPr lang="en-US" dirty="0"/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REPOSITORY          TAG                 IMAGE ID            CREATED          SIZE</a:t>
            </a:r>
          </a:p>
          <a:p>
            <a:pPr lvl="1"/>
            <a:r>
              <a:rPr lang="en-US" sz="1200" dirty="0">
                <a:latin typeface="Consolas" panose="020B0609020204030204" pitchFamily="49" charset="0"/>
              </a:rPr>
              <a:t>python3             latest              d4d98018e083        3 minutes ago       912MB</a:t>
            </a:r>
          </a:p>
          <a:p>
            <a:pPr lvl="1"/>
            <a:endParaRPr lang="en-US" sz="1200" dirty="0">
              <a:latin typeface="Consolas" panose="020B0609020204030204" pitchFamily="49" charset="0"/>
            </a:endParaRPr>
          </a:p>
          <a:p>
            <a:pPr lvl="1"/>
            <a:endParaRPr lang="en-US" sz="12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Run image in an interactive terminal container</a:t>
            </a:r>
          </a:p>
          <a:p>
            <a:endParaRPr lang="en-US" dirty="0"/>
          </a:p>
          <a:p>
            <a:pPr lvl="1"/>
            <a:r>
              <a:rPr lang="en-US" dirty="0"/>
              <a:t>$ </a:t>
            </a:r>
            <a:r>
              <a:rPr lang="en-US" dirty="0">
                <a:latin typeface="Consolas" panose="020B0609020204030204" pitchFamily="49" charset="0"/>
              </a:rPr>
              <a:t>docker run –it python3  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Python 3.6.5 (default, Jun  6 2018, 19:19:24)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[GCC 6.3.0 20170516] on </a:t>
            </a:r>
            <a:r>
              <a:rPr lang="en-US" dirty="0" err="1">
                <a:latin typeface="Consolas" panose="020B0609020204030204" pitchFamily="49" charset="0"/>
              </a:rPr>
              <a:t>linux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 "help", "copyright", "credits" or "license" for more information.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 print("Hello World")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Hello World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286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Add Display Functionality to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838200" y="911508"/>
            <a:ext cx="815340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Add Run command to </a:t>
            </a:r>
            <a:r>
              <a:rPr lang="en-US" sz="2000" dirty="0" err="1"/>
              <a:t>Dockerfile</a:t>
            </a:r>
            <a:r>
              <a:rPr lang="en-US" sz="2000" dirty="0"/>
              <a:t> to install Matplotlib in image</a:t>
            </a:r>
          </a:p>
          <a:p>
            <a:endParaRPr lang="en-US" dirty="0"/>
          </a:p>
          <a:p>
            <a:pPr marL="342900" lvl="1"/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FROM python:3                 # pull latest Python3 image from cache</a:t>
            </a:r>
          </a:p>
          <a:p>
            <a:pPr marL="342900" lvl="1"/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RUN pip install </a:t>
            </a:r>
            <a:r>
              <a:rPr lang="en-US" sz="1600" dirty="0" err="1">
                <a:latin typeface="Consolas" panose="020B0609020204030204" pitchFamily="49" charset="0"/>
                <a:cs typeface="Arial" panose="020B0604020202020204" pitchFamily="34" charset="0"/>
              </a:rPr>
              <a:t>matplotlib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    # install matplotlib</a:t>
            </a:r>
          </a:p>
          <a:p>
            <a:pPr marL="342900" lvl="1"/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</a:rPr>
              <a:t>CMD ["python"]                # run this command when running image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Re-build Python 3 image</a:t>
            </a:r>
          </a:p>
          <a:p>
            <a:endParaRPr lang="en-US" dirty="0"/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$ docker build -t python3 .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Re-run image in container (need X-forwarding for DISPLAY)</a:t>
            </a:r>
          </a:p>
          <a:p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run -it  \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-v /</a:t>
            </a:r>
            <a:r>
              <a:rPr lang="en-US" sz="1600" dirty="0" err="1">
                <a:latin typeface="Consolas" panose="020B0609020204030204" pitchFamily="49" charset="0"/>
              </a:rPr>
              <a:t>tmp</a:t>
            </a:r>
            <a:r>
              <a:rPr lang="en-US" sz="1600" dirty="0">
                <a:latin typeface="Consolas" panose="020B0609020204030204" pitchFamily="49" charset="0"/>
              </a:rPr>
              <a:t>/.X11-unix \  # need these lines to forward X-display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-e DISPLAY \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python3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623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286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Plot Python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Numpy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Array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381000" y="752464"/>
            <a:ext cx="8382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Python 3.6.5 (default, Jun  6 2018, 19:19:24)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[GCC 6.3.0 20170516] on </a:t>
            </a:r>
            <a:r>
              <a:rPr lang="en-US" dirty="0" err="1">
                <a:latin typeface="Consolas" panose="020B0609020204030204" pitchFamily="49" charset="0"/>
              </a:rPr>
              <a:t>linux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 "help", "copyright", "credits" or "license" for more information.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import </a:t>
            </a:r>
            <a:r>
              <a:rPr lang="en-US" dirty="0" err="1">
                <a:latin typeface="Consolas" panose="020B0609020204030204" pitchFamily="49" charset="0"/>
              </a:rPr>
              <a:t>matplotlib.pyplot</a:t>
            </a:r>
            <a:r>
              <a:rPr lang="en-US" dirty="0">
                <a:latin typeface="Consolas" panose="020B0609020204030204" pitchFamily="49" charset="0"/>
              </a:rPr>
              <a:t> as </a:t>
            </a:r>
            <a:r>
              <a:rPr lang="en-US" dirty="0" err="1">
                <a:latin typeface="Consolas" panose="020B0609020204030204" pitchFamily="49" charset="0"/>
              </a:rPr>
              <a:t>plt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import </a:t>
            </a:r>
            <a:r>
              <a:rPr lang="en-US" dirty="0" err="1">
                <a:latin typeface="Consolas" panose="020B0609020204030204" pitchFamily="49" charset="0"/>
              </a:rPr>
              <a:t>numpy</a:t>
            </a:r>
            <a:r>
              <a:rPr lang="en-US" dirty="0">
                <a:latin typeface="Consolas" panose="020B0609020204030204" pitchFamily="49" charset="0"/>
              </a:rPr>
              <a:t> as np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x=</a:t>
            </a:r>
            <a:r>
              <a:rPr lang="en-US" dirty="0" err="1">
                <a:latin typeface="Consolas" panose="020B0609020204030204" pitchFamily="49" charset="0"/>
              </a:rPr>
              <a:t>np.arange</a:t>
            </a:r>
            <a:r>
              <a:rPr lang="en-US" dirty="0">
                <a:latin typeface="Consolas" panose="020B0609020204030204" pitchFamily="49" charset="0"/>
              </a:rPr>
              <a:t>(0.0, 5.0, 0.1)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y=</a:t>
            </a:r>
            <a:r>
              <a:rPr lang="en-US" dirty="0" err="1">
                <a:latin typeface="Consolas" panose="020B0609020204030204" pitchFamily="49" charset="0"/>
              </a:rPr>
              <a:t>np.cos</a:t>
            </a:r>
            <a:r>
              <a:rPr lang="en-US" dirty="0">
                <a:latin typeface="Consolas" panose="020B0609020204030204" pitchFamily="49" charset="0"/>
              </a:rPr>
              <a:t>(x*</a:t>
            </a:r>
            <a:r>
              <a:rPr lang="en-US" dirty="0" err="1">
                <a:latin typeface="Consolas" panose="020B0609020204030204" pitchFamily="49" charset="0"/>
              </a:rPr>
              <a:t>np.pi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</a:rPr>
              <a:t>plt.plot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x,y</a:t>
            </a:r>
            <a:r>
              <a:rPr lang="en-US" dirty="0"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</a:rPr>
              <a:t>plt.show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51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381000" y="752464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1026" name="Picture 2" descr="C:\Users\Dominic\Desktop\Screenshot - 6_13_2018 , 7_01_33 PM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822" y="752464"/>
            <a:ext cx="6115050" cy="520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137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43000" y="228600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0110" lvl="1" indent="-514350">
              <a:buClr>
                <a:schemeClr val="tx1"/>
              </a:buClr>
              <a:buSzPct val="100000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Run External Python 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C986BF-7D85-46FD-BEE5-5A2406066789}"/>
              </a:ext>
            </a:extLst>
          </p:cNvPr>
          <p:cNvSpPr txBox="1"/>
          <p:nvPr/>
        </p:nvSpPr>
        <p:spPr>
          <a:xfrm>
            <a:off x="457200" y="737284"/>
            <a:ext cx="8382000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Mount local directory as external disk volume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run -</a:t>
            </a:r>
            <a:r>
              <a:rPr lang="en-US" sz="1600">
                <a:latin typeface="Consolas" panose="020B0609020204030204" pitchFamily="49" charset="0"/>
              </a:rPr>
              <a:t>it  \</a:t>
            </a:r>
            <a:endParaRPr lang="en-US" sz="1600" dirty="0">
              <a:latin typeface="Consolas" panose="020B0609020204030204" pitchFamily="49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-v ${PWD}:/home/python  # mount current directory inside container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-v /</a:t>
            </a:r>
            <a:r>
              <a:rPr lang="en-US" sz="1600" dirty="0" err="1">
                <a:latin typeface="Consolas" panose="020B0609020204030204" pitchFamily="49" charset="0"/>
              </a:rPr>
              <a:t>tmp</a:t>
            </a:r>
            <a:r>
              <a:rPr lang="en-US" sz="1600" dirty="0">
                <a:latin typeface="Consolas" panose="020B0609020204030204" pitchFamily="49" charset="0"/>
              </a:rPr>
              <a:t>/.X11-unix \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-e DISPLAY \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</a:rPr>
              <a:t>  python3</a:t>
            </a:r>
          </a:p>
          <a:p>
            <a:pPr lvl="1"/>
            <a:endParaRPr lang="en-US" sz="16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Import Python library module from local directory</a:t>
            </a:r>
            <a:endParaRPr lang="en-US" dirty="0"/>
          </a:p>
          <a:p>
            <a:endParaRPr lang="en-US" dirty="0"/>
          </a:p>
          <a:p>
            <a:pPr lvl="1"/>
            <a:r>
              <a:rPr lang="en-US" dirty="0">
                <a:latin typeface="Consolas" panose="020B0609020204030204" pitchFamily="49" charset="0"/>
              </a:rPr>
              <a:t>Python 3.6.5 (default, Jun  6 2018, 19:19:24)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[GCC 6.3.0 20170516] on </a:t>
            </a:r>
            <a:r>
              <a:rPr lang="en-US" dirty="0" err="1">
                <a:latin typeface="Consolas" panose="020B0609020204030204" pitchFamily="49" charset="0"/>
              </a:rPr>
              <a:t>linux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Type "help", "copyright", "credits" or "license" for more information.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import </a:t>
            </a:r>
            <a:r>
              <a:rPr lang="en-US" dirty="0" err="1">
                <a:latin typeface="Consolas" panose="020B0609020204030204" pitchFamily="49" charset="0"/>
              </a:rPr>
              <a:t>myplot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>
                <a:latin typeface="Consolas" panose="020B0609020204030204" pitchFamily="49" charset="0"/>
              </a:rPr>
              <a:t>&gt;&gt;&gt; </a:t>
            </a:r>
            <a:r>
              <a:rPr lang="en-US" dirty="0" err="1">
                <a:latin typeface="Consolas" panose="020B0609020204030204" pitchFamily="49" charset="0"/>
              </a:rPr>
              <a:t>myplot.run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409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4111"/>
            <a:ext cx="8229600" cy="94456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Distribute a Docker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695950"/>
          </a:xfrm>
        </p:spPr>
        <p:txBody>
          <a:bodyPr>
            <a:normAutofit/>
          </a:bodyPr>
          <a:lstStyle/>
          <a:p>
            <a:pPr marL="685800" lvl="1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up account on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DockerHub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0005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 </a:t>
            </a:r>
            <a:r>
              <a:rPr lang="en-US" sz="1600" dirty="0">
                <a:latin typeface="Consolas" panose="020B0609020204030204" pitchFamily="49" charset="0"/>
                <a:cs typeface="Arial" panose="020B0604020202020204" pitchFamily="34" charset="0"/>
                <a:hlinkClick r:id="rId2"/>
              </a:rPr>
              <a:t>https://hub.docker.com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400050" lvl="1" indent="0">
              <a:buNone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85800" lvl="1"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Log into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DockerHub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0005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login</a:t>
            </a:r>
          </a:p>
          <a:p>
            <a:pPr marL="800100" lvl="2" indent="0">
              <a:buNone/>
            </a:pP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685800" lvl="1"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Tag image with username:  </a:t>
            </a:r>
          </a:p>
          <a:p>
            <a:pPr marL="40005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tag python3 </a:t>
            </a:r>
            <a:r>
              <a:rPr lang="en-US" sz="1600" dirty="0" err="1">
                <a:latin typeface="Consolas" panose="020B0609020204030204" pitchFamily="49" charset="0"/>
              </a:rPr>
              <a:t>dzarro</a:t>
            </a:r>
            <a:r>
              <a:rPr lang="en-US" sz="1600" dirty="0">
                <a:latin typeface="Consolas" panose="020B0609020204030204" pitchFamily="49" charset="0"/>
              </a:rPr>
              <a:t>/python3</a:t>
            </a:r>
          </a:p>
          <a:p>
            <a:pPr marL="800100" lvl="2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685800" lvl="1"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Push image to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DockerHub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40005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US" sz="1600" dirty="0">
                <a:latin typeface="Consolas" panose="020B0609020204030204" pitchFamily="49" charset="0"/>
              </a:rPr>
              <a:t>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push </a:t>
            </a:r>
            <a:r>
              <a:rPr lang="en-US" sz="1600" dirty="0" err="1">
                <a:latin typeface="Consolas" panose="020B0609020204030204" pitchFamily="49" charset="0"/>
              </a:rPr>
              <a:t>dzarro</a:t>
            </a:r>
            <a:r>
              <a:rPr lang="en-US" sz="1600" dirty="0">
                <a:latin typeface="Consolas" panose="020B0609020204030204" pitchFamily="49" charset="0"/>
              </a:rPr>
              <a:t>/python3</a:t>
            </a:r>
          </a:p>
          <a:p>
            <a:pPr marL="400050" lvl="1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685800" lvl="1">
              <a:buFont typeface="Arial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Pull image to new host:</a:t>
            </a:r>
          </a:p>
          <a:p>
            <a:pPr marL="400050" lvl="1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$ </a:t>
            </a:r>
            <a:r>
              <a:rPr lang="en-US" sz="1600" dirty="0" err="1">
                <a:latin typeface="Consolas" panose="020B0609020204030204" pitchFamily="49" charset="0"/>
              </a:rPr>
              <a:t>docker</a:t>
            </a:r>
            <a:r>
              <a:rPr lang="en-US" sz="1600" dirty="0">
                <a:latin typeface="Consolas" panose="020B0609020204030204" pitchFamily="49" charset="0"/>
              </a:rPr>
              <a:t> pull </a:t>
            </a:r>
            <a:r>
              <a:rPr lang="en-US" sz="1600" dirty="0" err="1">
                <a:latin typeface="Consolas" panose="020B0609020204030204" pitchFamily="49" charset="0"/>
              </a:rPr>
              <a:t>dzarro</a:t>
            </a:r>
            <a:r>
              <a:rPr lang="en-US" sz="1600" dirty="0">
                <a:latin typeface="Consolas" panose="020B0609020204030204" pitchFamily="49" charset="0"/>
              </a:rPr>
              <a:t>/python3</a:t>
            </a:r>
            <a:endParaRPr lang="en-US" sz="1600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800100" lvl="2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800100" lvl="2" indent="0">
              <a:buNone/>
            </a:pPr>
            <a:endParaRPr lang="en-US" sz="1600" dirty="0">
              <a:latin typeface="Consolas" panose="020B0609020204030204" pitchFamily="49" charset="0"/>
            </a:endParaRPr>
          </a:p>
          <a:p>
            <a:pPr marL="800100" lvl="2" indent="0">
              <a:buNone/>
            </a:pPr>
            <a:endParaRPr lang="en-US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464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6291BE7-26FF-4D3F-8918-EB7A161581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6763</TotalTime>
  <Words>817</Words>
  <Application>Microsoft Office PowerPoint</Application>
  <PresentationFormat>On-screen Show (4:3)</PresentationFormat>
  <Paragraphs>209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Courier New</vt:lpstr>
      <vt:lpstr>Wingdings</vt:lpstr>
      <vt:lpstr>Office Theme</vt:lpstr>
      <vt:lpstr>Running Docker Apps in the AWS Cloud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Distribute a Docker Image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IDL Sockets</dc:title>
  <dc:creator>dzarro</dc:creator>
  <cp:lastModifiedBy>Dominic Zarro</cp:lastModifiedBy>
  <cp:revision>685</cp:revision>
  <cp:lastPrinted>2018-06-20T01:59:52Z</cp:lastPrinted>
  <dcterms:created xsi:type="dcterms:W3CDTF">2014-01-17T15:11:34Z</dcterms:created>
  <dcterms:modified xsi:type="dcterms:W3CDTF">2018-06-21T12:51:41Z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TC060888081033</vt:lpwstr>
  </property>
</Properties>
</file>