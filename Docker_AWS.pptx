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27" r:id="rId2"/>
  </p:sldMasterIdLst>
  <p:notesMasterIdLst>
    <p:notesMasterId r:id="rId9"/>
  </p:notesMasterIdLst>
  <p:handoutMasterIdLst>
    <p:handoutMasterId r:id="rId10"/>
  </p:handoutMasterIdLst>
  <p:sldIdLst>
    <p:sldId id="256" r:id="rId3"/>
    <p:sldId id="281" r:id="rId4"/>
    <p:sldId id="298" r:id="rId5"/>
    <p:sldId id="299" r:id="rId6"/>
    <p:sldId id="332" r:id="rId7"/>
    <p:sldId id="324" r:id="rId8"/>
  </p:sldIdLst>
  <p:sldSz cx="9144000" cy="6858000" type="screen4x3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icrosoft Corp.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0" autoAdjust="0"/>
    <p:restoredTop sz="89373" autoAdjust="0"/>
  </p:normalViewPr>
  <p:slideViewPr>
    <p:cSldViewPr>
      <p:cViewPr varScale="1">
        <p:scale>
          <a:sx n="77" d="100"/>
          <a:sy n="77" d="100"/>
        </p:scale>
        <p:origin x="162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699" cy="479403"/>
          </a:xfrm>
          <a:prstGeom prst="rect">
            <a:avLst/>
          </a:prstGeom>
        </p:spPr>
        <p:txBody>
          <a:bodyPr vert="horz" lIns="95006" tIns="47503" rIns="95006" bIns="47503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843" y="0"/>
            <a:ext cx="3169699" cy="479403"/>
          </a:xfrm>
          <a:prstGeom prst="rect">
            <a:avLst/>
          </a:prstGeom>
        </p:spPr>
        <p:txBody>
          <a:bodyPr vert="horz" lIns="95006" tIns="47503" rIns="95006" bIns="47503" rtlCol="0"/>
          <a:lstStyle>
            <a:lvl1pPr algn="r">
              <a:defRPr sz="1200"/>
            </a:lvl1pPr>
          </a:lstStyle>
          <a:p>
            <a:fld id="{39DB16EA-91C0-4C61-8D3F-9927D4C6B27B}" type="datetimeFigureOut">
              <a:rPr lang="en-US" smtClean="0"/>
              <a:pPr/>
              <a:t>10/17/2018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20156"/>
            <a:ext cx="3169699" cy="479403"/>
          </a:xfrm>
          <a:prstGeom prst="rect">
            <a:avLst/>
          </a:prstGeom>
        </p:spPr>
        <p:txBody>
          <a:bodyPr vert="horz" lIns="95006" tIns="47503" rIns="95006" bIns="47503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843" y="9120156"/>
            <a:ext cx="3169699" cy="479403"/>
          </a:xfrm>
          <a:prstGeom prst="rect">
            <a:avLst/>
          </a:prstGeom>
        </p:spPr>
        <p:txBody>
          <a:bodyPr vert="horz" lIns="95006" tIns="47503" rIns="95006" bIns="47503" rtlCol="0" anchor="b"/>
          <a:lstStyle>
            <a:lvl1pPr algn="r">
              <a:defRPr sz="1200"/>
            </a:lvl1pPr>
          </a:lstStyle>
          <a:p>
            <a:fld id="{AF35303B-3797-4E6E-9908-8E6C2845A9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37203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699" cy="47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>
            <a:lvl1pPr defTabSz="966556" eaLnBrk="1" hangingPunct="1">
              <a:defRPr sz="1200"/>
            </a:lvl1pPr>
          </a:lstStyle>
          <a:p>
            <a:endParaRPr lang="en-US"/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843" y="0"/>
            <a:ext cx="3169699" cy="47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>
            <a:lvl1pPr algn="r" defTabSz="966556" eaLnBrk="1" hangingPunct="1">
              <a:defRPr sz="1200"/>
            </a:lvl1pPr>
          </a:lstStyle>
          <a:p>
            <a:endParaRPr lang="en-US"/>
          </a:p>
        </p:txBody>
      </p:sp>
      <p:sp>
        <p:nvSpPr>
          <p:cNvPr id="4506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50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853" y="4560899"/>
            <a:ext cx="5851496" cy="4319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50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0156"/>
            <a:ext cx="3169699" cy="47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b" anchorCtr="0" compatLnSpc="1">
            <a:prstTxWarp prst="textNoShape">
              <a:avLst/>
            </a:prstTxWarp>
          </a:bodyPr>
          <a:lstStyle>
            <a:lvl1pPr defTabSz="966556" eaLnBrk="1" hangingPunct="1">
              <a:defRPr sz="1200"/>
            </a:lvl1pPr>
          </a:lstStyle>
          <a:p>
            <a:endParaRPr lang="en-US"/>
          </a:p>
        </p:txBody>
      </p:sp>
      <p:sp>
        <p:nvSpPr>
          <p:cNvPr id="450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843" y="9120156"/>
            <a:ext cx="3169699" cy="47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b" anchorCtr="0" compatLnSpc="1">
            <a:prstTxWarp prst="textNoShape">
              <a:avLst/>
            </a:prstTxWarp>
          </a:bodyPr>
          <a:lstStyle>
            <a:lvl1pPr algn="r" defTabSz="966556" eaLnBrk="1" hangingPunct="1">
              <a:defRPr sz="1200"/>
            </a:lvl1pPr>
          </a:lstStyle>
          <a:p>
            <a:fld id="{C6D3DD33-1C77-4963-91F2-833B8478F48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2541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06861D7-B888-4E58-9449-0462FF56318C}" type="slidenum">
              <a:rPr lang="en-US"/>
              <a:pPr/>
              <a:t>1</a:t>
            </a:fld>
            <a:endParaRPr lang="en-US"/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to add notes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3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4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5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6082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6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16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4148E-0E63-42EB-BE18-2F6E6BBA5E1C}" type="slidenum">
              <a:rPr lang="en-US" altLang="en-US" smtClean="0"/>
              <a:pPr/>
              <a:t>‹#›</a:t>
            </a:fld>
            <a:endParaRPr lang="en-US" altLang="en-US"/>
          </a:p>
        </p:txBody>
      </p:sp>
      <p:grpSp>
        <p:nvGrpSpPr>
          <p:cNvPr id="7" name="Group 41" descr="decorative graphic made up of dots"/>
          <p:cNvGrpSpPr>
            <a:grpSpLocks/>
          </p:cNvGrpSpPr>
          <p:nvPr userDrawn="1"/>
        </p:nvGrpSpPr>
        <p:grpSpPr bwMode="auto">
          <a:xfrm>
            <a:off x="7467600" y="1219200"/>
            <a:ext cx="792163" cy="1295400"/>
            <a:chOff x="5136" y="960"/>
            <a:chExt cx="528" cy="864"/>
          </a:xfrm>
        </p:grpSpPr>
        <p:sp>
          <p:nvSpPr>
            <p:cNvPr id="8" name="Oval 42"/>
            <p:cNvSpPr>
              <a:spLocks noChangeArrowheads="1"/>
            </p:cNvSpPr>
            <p:nvPr/>
          </p:nvSpPr>
          <p:spPr bwMode="auto">
            <a:xfrm>
              <a:off x="5136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" name="Oval 43"/>
            <p:cNvSpPr>
              <a:spLocks noChangeArrowheads="1"/>
            </p:cNvSpPr>
            <p:nvPr/>
          </p:nvSpPr>
          <p:spPr bwMode="auto">
            <a:xfrm>
              <a:off x="5248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Oval 44"/>
            <p:cNvSpPr>
              <a:spLocks noChangeArrowheads="1"/>
            </p:cNvSpPr>
            <p:nvPr/>
          </p:nvSpPr>
          <p:spPr bwMode="auto">
            <a:xfrm>
              <a:off x="5360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Oval 45"/>
            <p:cNvSpPr>
              <a:spLocks noChangeArrowheads="1"/>
            </p:cNvSpPr>
            <p:nvPr/>
          </p:nvSpPr>
          <p:spPr bwMode="auto">
            <a:xfrm>
              <a:off x="5136" y="1072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Oval 46"/>
            <p:cNvSpPr>
              <a:spLocks noChangeArrowheads="1"/>
            </p:cNvSpPr>
            <p:nvPr/>
          </p:nvSpPr>
          <p:spPr bwMode="auto">
            <a:xfrm>
              <a:off x="5248" y="1072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Oval 47"/>
            <p:cNvSpPr>
              <a:spLocks noChangeArrowheads="1"/>
            </p:cNvSpPr>
            <p:nvPr/>
          </p:nvSpPr>
          <p:spPr bwMode="auto">
            <a:xfrm>
              <a:off x="5360" y="1072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Oval 48"/>
            <p:cNvSpPr>
              <a:spLocks noChangeArrowheads="1"/>
            </p:cNvSpPr>
            <p:nvPr/>
          </p:nvSpPr>
          <p:spPr bwMode="auto">
            <a:xfrm>
              <a:off x="5472" y="1072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Oval 49"/>
            <p:cNvSpPr>
              <a:spLocks noChangeArrowheads="1"/>
            </p:cNvSpPr>
            <p:nvPr/>
          </p:nvSpPr>
          <p:spPr bwMode="auto">
            <a:xfrm>
              <a:off x="5136" y="1184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Oval 50"/>
            <p:cNvSpPr>
              <a:spLocks noChangeArrowheads="1"/>
            </p:cNvSpPr>
            <p:nvPr/>
          </p:nvSpPr>
          <p:spPr bwMode="auto">
            <a:xfrm>
              <a:off x="5248" y="1184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" name="Oval 51"/>
            <p:cNvSpPr>
              <a:spLocks noChangeArrowheads="1"/>
            </p:cNvSpPr>
            <p:nvPr/>
          </p:nvSpPr>
          <p:spPr bwMode="auto">
            <a:xfrm>
              <a:off x="5360" y="1184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Oval 52"/>
            <p:cNvSpPr>
              <a:spLocks noChangeArrowheads="1"/>
            </p:cNvSpPr>
            <p:nvPr/>
          </p:nvSpPr>
          <p:spPr bwMode="auto">
            <a:xfrm>
              <a:off x="5472" y="1184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Oval 53"/>
            <p:cNvSpPr>
              <a:spLocks noChangeArrowheads="1"/>
            </p:cNvSpPr>
            <p:nvPr/>
          </p:nvSpPr>
          <p:spPr bwMode="auto">
            <a:xfrm>
              <a:off x="5584" y="1184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Oval 54"/>
            <p:cNvSpPr>
              <a:spLocks noChangeArrowheads="1"/>
            </p:cNvSpPr>
            <p:nvPr/>
          </p:nvSpPr>
          <p:spPr bwMode="auto">
            <a:xfrm>
              <a:off x="5136" y="1296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Oval 55"/>
            <p:cNvSpPr>
              <a:spLocks noChangeArrowheads="1"/>
            </p:cNvSpPr>
            <p:nvPr/>
          </p:nvSpPr>
          <p:spPr bwMode="auto">
            <a:xfrm>
              <a:off x="5248" y="1296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Oval 56"/>
            <p:cNvSpPr>
              <a:spLocks noChangeArrowheads="1"/>
            </p:cNvSpPr>
            <p:nvPr/>
          </p:nvSpPr>
          <p:spPr bwMode="auto">
            <a:xfrm>
              <a:off x="5360" y="1296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Oval 57"/>
            <p:cNvSpPr>
              <a:spLocks noChangeArrowheads="1"/>
            </p:cNvSpPr>
            <p:nvPr/>
          </p:nvSpPr>
          <p:spPr bwMode="auto">
            <a:xfrm>
              <a:off x="5472" y="1296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Oval 58"/>
            <p:cNvSpPr>
              <a:spLocks noChangeArrowheads="1"/>
            </p:cNvSpPr>
            <p:nvPr/>
          </p:nvSpPr>
          <p:spPr bwMode="auto">
            <a:xfrm>
              <a:off x="5136" y="1408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Oval 59"/>
            <p:cNvSpPr>
              <a:spLocks noChangeArrowheads="1"/>
            </p:cNvSpPr>
            <p:nvPr/>
          </p:nvSpPr>
          <p:spPr bwMode="auto">
            <a:xfrm>
              <a:off x="5248" y="1408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Oval 60"/>
            <p:cNvSpPr>
              <a:spLocks noChangeArrowheads="1"/>
            </p:cNvSpPr>
            <p:nvPr/>
          </p:nvSpPr>
          <p:spPr bwMode="auto">
            <a:xfrm>
              <a:off x="5360" y="1408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Oval 61"/>
            <p:cNvSpPr>
              <a:spLocks noChangeArrowheads="1"/>
            </p:cNvSpPr>
            <p:nvPr/>
          </p:nvSpPr>
          <p:spPr bwMode="auto">
            <a:xfrm>
              <a:off x="5472" y="1408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" name="Oval 62"/>
            <p:cNvSpPr>
              <a:spLocks noChangeArrowheads="1"/>
            </p:cNvSpPr>
            <p:nvPr/>
          </p:nvSpPr>
          <p:spPr bwMode="auto">
            <a:xfrm>
              <a:off x="5584" y="1408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" name="Oval 63"/>
            <p:cNvSpPr>
              <a:spLocks noChangeArrowheads="1"/>
            </p:cNvSpPr>
            <p:nvPr/>
          </p:nvSpPr>
          <p:spPr bwMode="auto">
            <a:xfrm>
              <a:off x="5136" y="1520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" name="Oval 64"/>
            <p:cNvSpPr>
              <a:spLocks noChangeArrowheads="1"/>
            </p:cNvSpPr>
            <p:nvPr/>
          </p:nvSpPr>
          <p:spPr bwMode="auto">
            <a:xfrm>
              <a:off x="5248" y="1520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" name="Oval 65"/>
            <p:cNvSpPr>
              <a:spLocks noChangeArrowheads="1"/>
            </p:cNvSpPr>
            <p:nvPr/>
          </p:nvSpPr>
          <p:spPr bwMode="auto">
            <a:xfrm>
              <a:off x="5360" y="1520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2" name="Oval 66"/>
            <p:cNvSpPr>
              <a:spLocks noChangeArrowheads="1"/>
            </p:cNvSpPr>
            <p:nvPr/>
          </p:nvSpPr>
          <p:spPr bwMode="auto">
            <a:xfrm>
              <a:off x="5472" y="1520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" name="Oval 67"/>
            <p:cNvSpPr>
              <a:spLocks noChangeArrowheads="1"/>
            </p:cNvSpPr>
            <p:nvPr/>
          </p:nvSpPr>
          <p:spPr bwMode="auto">
            <a:xfrm>
              <a:off x="5136" y="1632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" name="Oval 68"/>
            <p:cNvSpPr>
              <a:spLocks noChangeArrowheads="1"/>
            </p:cNvSpPr>
            <p:nvPr/>
          </p:nvSpPr>
          <p:spPr bwMode="auto">
            <a:xfrm>
              <a:off x="5248" y="1632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5" name="Oval 69"/>
            <p:cNvSpPr>
              <a:spLocks noChangeArrowheads="1"/>
            </p:cNvSpPr>
            <p:nvPr/>
          </p:nvSpPr>
          <p:spPr bwMode="auto">
            <a:xfrm>
              <a:off x="5360" y="1632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" name="Oval 70"/>
            <p:cNvSpPr>
              <a:spLocks noChangeArrowheads="1"/>
            </p:cNvSpPr>
            <p:nvPr/>
          </p:nvSpPr>
          <p:spPr bwMode="auto">
            <a:xfrm>
              <a:off x="5472" y="1632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" name="Oval 71"/>
            <p:cNvSpPr>
              <a:spLocks noChangeArrowheads="1"/>
            </p:cNvSpPr>
            <p:nvPr/>
          </p:nvSpPr>
          <p:spPr bwMode="auto">
            <a:xfrm>
              <a:off x="5248" y="1744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8" name="Oval 72"/>
            <p:cNvSpPr>
              <a:spLocks noChangeArrowheads="1"/>
            </p:cNvSpPr>
            <p:nvPr/>
          </p:nvSpPr>
          <p:spPr bwMode="auto">
            <a:xfrm>
              <a:off x="5472" y="1744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5AE15-FA3C-4B48-B58A-B66292DF158E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090CA-D5D8-4D58-A3CB-7C2599422589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CD455-FD93-4C4D-BE1C-F541C8EAE3B2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2DDAB-2A89-4C10-890B-91AE9F344F95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75DFD-1CEE-466C-8186-A858E7059066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08515-2FBF-4029-9F32-55248CCAD54A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9BB04-D831-494D-9EC6-12182BA79212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03B1F-D7BD-4F3F-86C6-061E6B7D078C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D3BF0-99ED-4177-9A49-E99EA1D2CD1C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82F9A9-E0F8-4D1E-B6DF-36DE2EFF44B1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A4FAC1-E5EA-4F37-AC9C-EC20A35775CF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29" r:id="rId2"/>
    <p:sldLayoutId id="2147483730" r:id="rId3"/>
    <p:sldLayoutId id="2147483731" r:id="rId4"/>
    <p:sldLayoutId id="2147483732" r:id="rId5"/>
    <p:sldLayoutId id="2147483733" r:id="rId6"/>
    <p:sldLayoutId id="2147483734" r:id="rId7"/>
    <p:sldLayoutId id="2147483735" r:id="rId8"/>
    <p:sldLayoutId id="2147483736" r:id="rId9"/>
    <p:sldLayoutId id="2147483737" r:id="rId10"/>
    <p:sldLayoutId id="2147483738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install/" TargetMode="External"/><Relationship Id="rId2" Type="http://schemas.openxmlformats.org/officeDocument/2006/relationships/hyperlink" Target="https://aws.amazon.com/ec2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heliodocs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dzarro/xdoc.git" TargetMode="External"/><Relationship Id="rId4" Type="http://schemas.openxmlformats.org/officeDocument/2006/relationships/hyperlink" Target="https://github.com/dzarro/xdoc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52.61.137.34:8080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90600" y="985471"/>
            <a:ext cx="6096000" cy="16764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Dockerizing</a:t>
            </a:r>
            <a:r>
              <a:rPr lang="en-US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 a Web  App in the AWS Cloud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r>
              <a:rPr lang="en-US" dirty="0">
                <a:latin typeface="Arial" pitchFamily="34" charset="0"/>
                <a:cs typeface="Arial" pitchFamily="34" charset="0"/>
              </a:rPr>
              <a:t>      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685800" y="2819400"/>
            <a:ext cx="7772400" cy="807993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Dominic </a:t>
            </a:r>
            <a:r>
              <a:rPr lang="en-US" sz="2800" dirty="0" err="1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Zarro</a:t>
            </a:r>
            <a:r>
              <a:rPr 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(ADNET Systems, Inc.)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3810000"/>
            <a:ext cx="4343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SESDA Web CIG</a:t>
            </a:r>
          </a:p>
          <a:p>
            <a:r>
              <a:rPr lang="en-US" dirty="0"/>
              <a:t>October 2018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85800" y="833110"/>
            <a:ext cx="8229600" cy="5191780"/>
          </a:xfrm>
        </p:spPr>
        <p:txBody>
          <a:bodyPr>
            <a:normAutofit fontScale="92500" lnSpcReduction="10000"/>
          </a:bodyPr>
          <a:lstStyle/>
          <a:p>
            <a:pPr marL="624078" indent="-514350">
              <a:buClr>
                <a:schemeClr val="tx1"/>
              </a:buClr>
              <a:buSzPct val="100000"/>
              <a:buNone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lnSpc>
                <a:spcPct val="90000"/>
              </a:lnSpc>
              <a:spcBef>
                <a:spcPts val="400"/>
              </a:spcBef>
              <a:buSzPct val="100000"/>
              <a:buFont typeface="+mj-lt"/>
              <a:buAutoNum type="arabicPeriod"/>
            </a:pPr>
            <a:r>
              <a:rPr lang="en-US" sz="2200" dirty="0">
                <a:latin typeface="Arial" pitchFamily="34" charset="0"/>
                <a:cs typeface="Arial" pitchFamily="34" charset="0"/>
              </a:rPr>
              <a:t>Set up an AWS Elastic Compute Cloud (EC2) instance: </a:t>
            </a:r>
          </a:p>
          <a:p>
            <a:pPr marL="566928" lvl="1" indent="-457200">
              <a:lnSpc>
                <a:spcPct val="90000"/>
              </a:lnSpc>
              <a:spcBef>
                <a:spcPts val="400"/>
              </a:spcBef>
              <a:buSzPct val="100000"/>
              <a:buFont typeface="+mj-lt"/>
              <a:buAutoNum type="arabicPeriod"/>
            </a:pPr>
            <a:endParaRPr lang="en-US" sz="2200" dirty="0">
              <a:latin typeface="Arial" pitchFamily="34" charset="0"/>
              <a:cs typeface="Arial" pitchFamily="34" charset="0"/>
            </a:endParaRPr>
          </a:p>
          <a:p>
            <a:pPr marL="509778" lvl="2" indent="0">
              <a:lnSpc>
                <a:spcPct val="90000"/>
              </a:lnSpc>
              <a:spcBef>
                <a:spcPts val="400"/>
              </a:spcBef>
              <a:buSzPct val="100000"/>
              <a:buNone/>
            </a:pPr>
            <a:r>
              <a:rPr lang="en-US" sz="19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900" dirty="0">
                <a:latin typeface="Arial" pitchFamily="34" charset="0"/>
                <a:cs typeface="Arial" pitchFamily="34" charset="0"/>
                <a:hlinkClick r:id="rId2"/>
              </a:rPr>
              <a:t>https://aws.amazon.com/ec2</a:t>
            </a:r>
            <a:endParaRPr lang="en-US" sz="1900" dirty="0">
              <a:latin typeface="Arial" pitchFamily="34" charset="0"/>
              <a:cs typeface="Arial" pitchFamily="34" charset="0"/>
            </a:endParaRPr>
          </a:p>
          <a:p>
            <a:pPr marL="966978" lvl="2" indent="-457200">
              <a:lnSpc>
                <a:spcPct val="90000"/>
              </a:lnSpc>
              <a:spcBef>
                <a:spcPts val="400"/>
              </a:spcBef>
              <a:buSzPct val="100000"/>
              <a:buFont typeface="+mj-lt"/>
              <a:buAutoNum type="arabicPeriod"/>
            </a:pPr>
            <a:endParaRPr lang="en-US" sz="19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lnSpc>
                <a:spcPct val="90000"/>
              </a:lnSpc>
              <a:spcBef>
                <a:spcPts val="400"/>
              </a:spcBef>
              <a:buSzPct val="100000"/>
              <a:buFont typeface="+mj-lt"/>
              <a:buAutoNum type="arabicPeriod"/>
            </a:pPr>
            <a:r>
              <a:rPr lang="en-US" sz="2200" dirty="0">
                <a:latin typeface="Arial" pitchFamily="34" charset="0"/>
                <a:cs typeface="Arial" pitchFamily="34" charset="0"/>
              </a:rPr>
              <a:t>Install Docker client: </a:t>
            </a:r>
          </a:p>
          <a:p>
            <a:pPr marL="566928" lvl="1" indent="-457200">
              <a:spcBef>
                <a:spcPts val="400"/>
              </a:spcBef>
              <a:buSzPct val="100000"/>
              <a:buFont typeface="+mj-lt"/>
              <a:buAutoNum type="arabicPeriod"/>
            </a:pPr>
            <a:endParaRPr lang="en-US" sz="1900" dirty="0">
              <a:latin typeface="Arial" pitchFamily="34" charset="0"/>
              <a:cs typeface="Arial" pitchFamily="34" charset="0"/>
            </a:endParaRPr>
          </a:p>
          <a:p>
            <a:pPr marL="509778" lvl="2" indent="0">
              <a:spcBef>
                <a:spcPts val="400"/>
              </a:spcBef>
              <a:buSzPct val="100000"/>
              <a:buNone/>
            </a:pPr>
            <a:r>
              <a:rPr lang="en-US" sz="1900" dirty="0">
                <a:latin typeface="Arial" pitchFamily="34" charset="0"/>
                <a:cs typeface="Arial" pitchFamily="34" charset="0"/>
                <a:hlinkClick r:id="rId3"/>
              </a:rPr>
              <a:t>https://docs.docker.com/install/</a:t>
            </a:r>
            <a:endParaRPr lang="en-US" sz="1900" dirty="0">
              <a:latin typeface="Arial" pitchFamily="34" charset="0"/>
              <a:cs typeface="Arial" pitchFamily="34" charset="0"/>
            </a:endParaRPr>
          </a:p>
          <a:p>
            <a:pPr marL="966978" lvl="2" indent="-457200">
              <a:spcBef>
                <a:spcPts val="400"/>
              </a:spcBef>
              <a:buSzPct val="100000"/>
              <a:buFont typeface="+mj-lt"/>
              <a:buAutoNum type="arabicPeriod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r>
              <a:rPr lang="en-US" sz="2200" dirty="0">
                <a:latin typeface="Arial" pitchFamily="34" charset="0"/>
                <a:cs typeface="Arial" pitchFamily="34" charset="0"/>
              </a:rPr>
              <a:t>Install application files</a:t>
            </a: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r>
              <a:rPr lang="en-US" sz="2200" dirty="0">
                <a:latin typeface="Arial" pitchFamily="34" charset="0"/>
                <a:cs typeface="Arial" pitchFamily="34" charset="0"/>
              </a:rPr>
              <a:t>Build a Docker image</a:t>
            </a: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r>
              <a:rPr lang="en-US" sz="2200" dirty="0">
                <a:latin typeface="Arial" pitchFamily="34" charset="0"/>
                <a:cs typeface="Arial" pitchFamily="34" charset="0"/>
              </a:rPr>
              <a:t>Run a Docker container</a:t>
            </a:r>
          </a:p>
          <a:p>
            <a:pPr marL="880110" lvl="1" indent="-514350">
              <a:buClr>
                <a:schemeClr val="tx1"/>
              </a:buClr>
              <a:buSzPct val="100000"/>
              <a:buFont typeface="+mj-lt"/>
              <a:buAutoNum type="arabicPeriod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880110" lvl="1" indent="-514350">
              <a:buClr>
                <a:schemeClr val="tx1"/>
              </a:buClr>
              <a:buSzPct val="100000"/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624078" indent="-514350">
              <a:buClr>
                <a:schemeClr val="tx1"/>
              </a:buClr>
              <a:buSzPct val="100000"/>
              <a:buNone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marL="624078" indent="-514350">
              <a:buClr>
                <a:schemeClr val="tx1"/>
              </a:buClr>
              <a:buSzPct val="100000"/>
              <a:buNone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marL="624078" indent="-514350">
              <a:buClr>
                <a:schemeClr val="tx1"/>
              </a:buClr>
              <a:buSzPct val="100000"/>
              <a:buFont typeface="Wingdings" pitchFamily="2" charset="2"/>
              <a:buChar char="q"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marL="624078" indent="-514350">
              <a:buClr>
                <a:schemeClr val="tx1"/>
              </a:buClr>
              <a:buSzPct val="100000"/>
              <a:buNone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lvl="2">
              <a:buClr>
                <a:schemeClr val="tx1"/>
              </a:buClr>
              <a:buNone/>
            </a:pPr>
            <a:endParaRPr lang="en-US" dirty="0"/>
          </a:p>
          <a:p>
            <a:pPr lvl="1">
              <a:buNone/>
            </a:pP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667000" y="255105"/>
            <a:ext cx="3124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 </a:t>
            </a:r>
            <a:r>
              <a:rPr lang="en-US" sz="2800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Five 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781300" y="228600"/>
            <a:ext cx="3581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    </a:t>
            </a:r>
            <a:r>
              <a:rPr lang="en-US" sz="2800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Docker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C2A64F-B0C6-4BB2-8BD6-8D186B04E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066800"/>
            <a:ext cx="8229600" cy="452596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is Docker?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Docker is a platform to develop, deploy, and run applications within containers:</a:t>
            </a:r>
          </a:p>
          <a:p>
            <a:pPr marL="457200" lvl="1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https://docs.docker.com/get-started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is a Docker Image?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An image is an executable package that includes everything needed to run an application--the code, a runtime, libraries, environment variables, and configuration files.</a:t>
            </a:r>
          </a:p>
          <a:p>
            <a:pPr marL="457200" lvl="1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is a Docker Container?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 container is a runtime instance of  a Docker image. </a:t>
            </a:r>
          </a:p>
          <a:p>
            <a:pPr marL="457200" lvl="1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88892" y="206624"/>
            <a:ext cx="4495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Docker Background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D816C5-D773-46B4-A44A-4437BF7AC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303" y="838200"/>
            <a:ext cx="7391393" cy="2286000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Why use Docker?</a:t>
            </a:r>
          </a:p>
          <a:p>
            <a:pPr marL="0" indent="0">
              <a:buNone/>
            </a:pP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Flexible: Complex applications can be containerized.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Lightweight: Containers leverage and share the host kernel.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Portable: Build images locally, deploy to the cloud, and run anywhere.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Distributed: Access Docker Hub registry for pre-built and tested images: 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https://hub.docker.com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9DCBE52-3DE1-40D1-975C-C40ED8775B36}"/>
              </a:ext>
            </a:extLst>
          </p:cNvPr>
          <p:cNvGrpSpPr/>
          <p:nvPr/>
        </p:nvGrpSpPr>
        <p:grpSpPr>
          <a:xfrm>
            <a:off x="948380" y="3551359"/>
            <a:ext cx="7253025" cy="3078041"/>
            <a:chOff x="1143000" y="3387291"/>
            <a:chExt cx="7253025" cy="3078041"/>
          </a:xfrm>
        </p:grpSpPr>
        <p:pic>
          <p:nvPicPr>
            <p:cNvPr id="1026" name="Picture 2" descr="Container stack example">
              <a:extLst>
                <a:ext uri="{FF2B5EF4-FFF2-40B4-BE49-F238E27FC236}">
                  <a16:creationId xmlns:a16="http://schemas.microsoft.com/office/drawing/2014/main" id="{ECEC144E-E06E-4551-878F-DABCB372603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3000" y="3387291"/>
              <a:ext cx="2681025" cy="24039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2" descr="Container stack example">
              <a:extLst>
                <a:ext uri="{FF2B5EF4-FFF2-40B4-BE49-F238E27FC236}">
                  <a16:creationId xmlns:a16="http://schemas.microsoft.com/office/drawing/2014/main" id="{284BE0C5-F6D0-41FD-9AC2-3DB7CA4E0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15000" y="3435697"/>
              <a:ext cx="2681025" cy="24039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86AB96B6-4A73-49CF-B428-E883D4D087B2}"/>
                </a:ext>
              </a:extLst>
            </p:cNvPr>
            <p:cNvSpPr/>
            <p:nvPr/>
          </p:nvSpPr>
          <p:spPr>
            <a:xfrm>
              <a:off x="4391102" y="3886200"/>
              <a:ext cx="978408" cy="48463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80E0828-CF5C-43FF-8019-859B7D7BEC0F}"/>
                </a:ext>
              </a:extLst>
            </p:cNvPr>
            <p:cNvSpPr txBox="1"/>
            <p:nvPr/>
          </p:nvSpPr>
          <p:spPr>
            <a:xfrm>
              <a:off x="4361683" y="3536975"/>
              <a:ext cx="97840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dirty="0"/>
                <a:t>Export App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B0934CE-AE58-4A14-9B68-B8620CF8B16F}"/>
                </a:ext>
              </a:extLst>
            </p:cNvPr>
            <p:cNvSpPr txBox="1"/>
            <p:nvPr/>
          </p:nvSpPr>
          <p:spPr>
            <a:xfrm>
              <a:off x="1676400" y="6096000"/>
              <a:ext cx="13644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Local Host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1D6F34E-9F24-4274-BEC2-4CB53E652958}"/>
                </a:ext>
              </a:extLst>
            </p:cNvPr>
            <p:cNvSpPr txBox="1"/>
            <p:nvPr/>
          </p:nvSpPr>
          <p:spPr>
            <a:xfrm>
              <a:off x="6251445" y="6096000"/>
              <a:ext cx="16081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Remote Host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3600" y="228600"/>
            <a:ext cx="541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Install &amp; Build Application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D816C5-D773-46B4-A44A-4437BF7AC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647700"/>
            <a:ext cx="8610600" cy="5562600"/>
          </a:xfrm>
        </p:spPr>
        <p:txBody>
          <a:bodyPr>
            <a:normAutofit fontScale="92500" lnSpcReduction="10000"/>
          </a:bodyPr>
          <a:lstStyle/>
          <a:p>
            <a:pPr marL="400050" lvl="1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PHP app to install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http://www.heliodocs.com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0050" lvl="1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Install application files from Git Hub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https://github.com/dzarro/xdoc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2" indent="0">
              <a:buNone/>
            </a:pPr>
            <a:endParaRPr lang="en-US" sz="2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lvl="1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800" dirty="0">
                <a:latin typeface="Consolas" panose="020B0609020204030204" pitchFamily="49" charset="0"/>
                <a:cs typeface="Arial" panose="020B0604020202020204" pitchFamily="34" charset="0"/>
              </a:rPr>
              <a:t>git clone </a:t>
            </a:r>
            <a:r>
              <a:rPr lang="en-US" sz="1800" dirty="0">
                <a:latin typeface="Consolas" panose="020B0609020204030204" pitchFamily="49" charset="0"/>
                <a:cs typeface="Arial" panose="020B0604020202020204" pitchFamily="34" charset="0"/>
                <a:hlinkClick r:id="rId5"/>
              </a:rPr>
              <a:t>https://github.com/dzarro/xdoc.git</a:t>
            </a:r>
            <a:endParaRPr lang="en-US" sz="1800" dirty="0"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marL="914400" lvl="2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Create a Docker (instruction) file</a:t>
            </a:r>
            <a:endParaRPr lang="en-US" sz="1800" dirty="0">
              <a:latin typeface="Consolas" panose="020B0609020204030204" pitchFamily="49" charset="0"/>
              <a:cs typeface="Arial" pitchFamily="34" charset="0"/>
            </a:endParaRPr>
          </a:p>
          <a:p>
            <a:pPr marL="857250" lvl="2" indent="0">
              <a:spcBef>
                <a:spcPts val="0"/>
              </a:spcBef>
              <a:buNone/>
            </a:pPr>
            <a:r>
              <a:rPr lang="en-US" sz="1800" dirty="0">
                <a:latin typeface="Consolas" panose="020B0609020204030204" pitchFamily="49" charset="0"/>
                <a:cs typeface="Arial" pitchFamily="34" charset="0"/>
              </a:rPr>
              <a:t> </a:t>
            </a:r>
          </a:p>
          <a:p>
            <a:pPr marL="857250" lvl="2" indent="0">
              <a:spcBef>
                <a:spcPts val="0"/>
              </a:spcBef>
              <a:buNone/>
            </a:pPr>
            <a:r>
              <a:rPr lang="en-US" sz="1700" dirty="0">
                <a:latin typeface="Consolas" panose="020B0609020204030204" pitchFamily="49" charset="0"/>
                <a:cs typeface="Arial" pitchFamily="34" charset="0"/>
              </a:rPr>
              <a:t>FROM php:7.2-apache  # </a:t>
            </a:r>
            <a:r>
              <a:rPr lang="en-US" sz="1700" i="1" dirty="0">
                <a:latin typeface="Consolas" panose="020B0609020204030204" pitchFamily="49" charset="0"/>
                <a:cs typeface="Arial" pitchFamily="34" charset="0"/>
              </a:rPr>
              <a:t>load PHP/Apache image from Docker Hub</a:t>
            </a:r>
          </a:p>
          <a:p>
            <a:pPr marL="857250" lvl="2" indent="0">
              <a:spcBef>
                <a:spcPts val="0"/>
              </a:spcBef>
              <a:buNone/>
            </a:pPr>
            <a:endParaRPr lang="en-US" sz="1700" dirty="0">
              <a:latin typeface="Consolas" panose="020B0609020204030204" pitchFamily="49" charset="0"/>
              <a:cs typeface="Arial" pitchFamily="34" charset="0"/>
            </a:endParaRPr>
          </a:p>
          <a:p>
            <a:pPr marL="857250" lvl="2" indent="0">
              <a:spcBef>
                <a:spcPts val="0"/>
              </a:spcBef>
              <a:buNone/>
            </a:pPr>
            <a:r>
              <a:rPr lang="pl-PL" sz="1700" dirty="0">
                <a:latin typeface="Consolas" panose="020B0609020204030204" pitchFamily="49" charset="0"/>
                <a:cs typeface="Arial" pitchFamily="34" charset="0"/>
              </a:rPr>
              <a:t>COPY xdoc/ /var/www/html/</a:t>
            </a:r>
            <a:r>
              <a:rPr lang="en-US" sz="1700" dirty="0">
                <a:latin typeface="Consolas" panose="020B0609020204030204" pitchFamily="49" charset="0"/>
                <a:cs typeface="Arial" pitchFamily="34" charset="0"/>
              </a:rPr>
              <a:t>  # </a:t>
            </a:r>
            <a:r>
              <a:rPr lang="en-US" sz="1700" i="1" dirty="0">
                <a:latin typeface="Consolas" panose="020B0609020204030204" pitchFamily="49" charset="0"/>
                <a:cs typeface="Arial" pitchFamily="34" charset="0"/>
              </a:rPr>
              <a:t>copy app files into image</a:t>
            </a:r>
          </a:p>
          <a:p>
            <a:pPr marL="857250" lvl="2" indent="0">
              <a:spcBef>
                <a:spcPts val="0"/>
              </a:spcBef>
              <a:buNone/>
            </a:pPr>
            <a:endParaRPr lang="en-US" sz="1700" dirty="0">
              <a:latin typeface="Consolas" panose="020B0609020204030204" pitchFamily="49" charset="0"/>
              <a:cs typeface="Arial" pitchFamily="34" charset="0"/>
            </a:endParaRPr>
          </a:p>
          <a:p>
            <a:pPr marL="857250" lvl="2" indent="0">
              <a:spcBef>
                <a:spcPts val="0"/>
              </a:spcBef>
              <a:buNone/>
            </a:pPr>
            <a:r>
              <a:rPr lang="en-US" sz="1700" dirty="0">
                <a:latin typeface="Consolas" panose="020B0609020204030204" pitchFamily="49" charset="0"/>
                <a:cs typeface="Arial" pitchFamily="34" charset="0"/>
              </a:rPr>
              <a:t>EXPOSE 8080                # </a:t>
            </a:r>
            <a:r>
              <a:rPr lang="en-US" sz="1700" i="1" dirty="0">
                <a:latin typeface="Consolas" panose="020B0609020204030204" pitchFamily="49" charset="0"/>
                <a:cs typeface="Arial" panose="020B0604020202020204" pitchFamily="34" charset="0"/>
              </a:rPr>
              <a:t>expose application port</a:t>
            </a:r>
          </a:p>
          <a:p>
            <a:pPr marL="857250" lvl="2" indent="0">
              <a:spcBef>
                <a:spcPts val="0"/>
              </a:spcBef>
              <a:buNone/>
            </a:pPr>
            <a:endParaRPr lang="en-US" sz="1700" dirty="0"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Build a Docker image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800" dirty="0">
                <a:latin typeface="Consolas" panose="020B0609020204030204" pitchFamily="49" charset="0"/>
                <a:cs typeface="Arial" panose="020B0604020202020204" pitchFamily="34" charset="0"/>
              </a:rPr>
              <a:t>docker build -t  dzarro/</a:t>
            </a:r>
            <a:r>
              <a:rPr lang="en-US" sz="1800" dirty="0" err="1">
                <a:latin typeface="Consolas" panose="020B0609020204030204" pitchFamily="49" charset="0"/>
                <a:cs typeface="Arial" panose="020B0604020202020204" pitchFamily="34" charset="0"/>
              </a:rPr>
              <a:t>xdoc</a:t>
            </a:r>
            <a:r>
              <a:rPr lang="en-US" sz="1800" dirty="0">
                <a:latin typeface="Consolas" panose="020B0609020204030204" pitchFamily="49" charset="0"/>
                <a:cs typeface="Arial" pitchFamily="34" charset="0"/>
              </a:rPr>
              <a:t> .  # image name dzarro/</a:t>
            </a:r>
            <a:r>
              <a:rPr lang="en-US" sz="1800" dirty="0" err="1">
                <a:latin typeface="Consolas" panose="020B0609020204030204" pitchFamily="49" charset="0"/>
                <a:cs typeface="Arial" pitchFamily="34" charset="0"/>
              </a:rPr>
              <a:t>xdoc</a:t>
            </a:r>
            <a:endParaRPr lang="en-US" sz="1800" dirty="0">
              <a:latin typeface="Consolas" panose="020B0609020204030204" pitchFamily="49" charset="0"/>
              <a:cs typeface="Arial" pitchFamily="34" charset="0"/>
            </a:endParaRPr>
          </a:p>
          <a:p>
            <a:pPr marL="457200" lvl="1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2445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4600" y="269730"/>
            <a:ext cx="594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solidFill>
                  <a:srgbClr val="0070C0"/>
                </a:solidFill>
              </a:rPr>
              <a:t>Run Application</a:t>
            </a:r>
            <a:endParaRPr lang="en-US" sz="2800" dirty="0">
              <a:solidFill>
                <a:srgbClr val="0070C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986BF-7D85-46FD-BEE5-5A2406066789}"/>
              </a:ext>
            </a:extLst>
          </p:cNvPr>
          <p:cNvSpPr txBox="1"/>
          <p:nvPr/>
        </p:nvSpPr>
        <p:spPr>
          <a:xfrm>
            <a:off x="381000" y="928494"/>
            <a:ext cx="8153400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endParaRPr lang="en-US" sz="2000" dirty="0">
              <a:solidFill>
                <a:schemeClr val="tx2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Run image in a container</a:t>
            </a:r>
          </a:p>
          <a:p>
            <a:pPr lvl="1"/>
            <a:endParaRPr lang="en-US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 docker run –d –p 8080:8080 –-name dzarro/</a:t>
            </a:r>
            <a:r>
              <a:rPr lang="en-US" dirty="0" err="1">
                <a:latin typeface="Consolas" panose="020B0609020204030204" pitchFamily="49" charset="0"/>
              </a:rPr>
              <a:t>xdoc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xdoc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sz="2000" dirty="0"/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-d     # run in detached/background mode</a:t>
            </a: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-p     # forward internal Docker port to external server port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Test application</a:t>
            </a:r>
          </a:p>
          <a:p>
            <a:pPr lvl="1"/>
            <a:endParaRPr lang="en-US" sz="1600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  <a:hlinkClick r:id="rId3"/>
              </a:rPr>
              <a:t>http://52.61.137.34:8080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sz="1600" dirty="0">
              <a:latin typeface="Consolas" panose="020B0609020204030204" pitchFamily="49" charset="0"/>
            </a:endParaRPr>
          </a:p>
          <a:p>
            <a:pPr lvl="1"/>
            <a:endParaRPr lang="en-US" sz="1600" dirty="0">
              <a:latin typeface="Consolas" panose="020B06090202040302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Deploy to Docker Hub</a:t>
            </a:r>
          </a:p>
          <a:p>
            <a:pPr lvl="1"/>
            <a:endParaRPr lang="en-US" sz="2000" dirty="0"/>
          </a:p>
          <a:p>
            <a:pPr marL="571500" lvl="2"/>
            <a:r>
              <a:rPr lang="en-US" dirty="0">
                <a:latin typeface="Consolas" panose="020B0609020204030204" pitchFamily="49" charset="0"/>
              </a:rPr>
              <a:t>docker login</a:t>
            </a:r>
          </a:p>
          <a:p>
            <a:pPr marL="571500" lvl="2"/>
            <a:r>
              <a:rPr lang="en-US" dirty="0">
                <a:latin typeface="Consolas" panose="020B0609020204030204" pitchFamily="49" charset="0"/>
              </a:rPr>
              <a:t>docker push dzarro/</a:t>
            </a:r>
            <a:r>
              <a:rPr lang="en-US" dirty="0" err="1">
                <a:latin typeface="Consolas" panose="020B0609020204030204" pitchFamily="49" charset="0"/>
              </a:rPr>
              <a:t>xdoc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26239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76291BE7-26FF-4D3F-8918-EB7A1615814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7249</TotalTime>
  <Words>320</Words>
  <Application>Microsoft Office PowerPoint</Application>
  <PresentationFormat>On-screen Show (4:3)</PresentationFormat>
  <Paragraphs>91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Consolas</vt:lpstr>
      <vt:lpstr>Courier New</vt:lpstr>
      <vt:lpstr>Wingdings</vt:lpstr>
      <vt:lpstr>Office Theme</vt:lpstr>
      <vt:lpstr>Dockerizing a Web  App in the AWS Cloud      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IDL Sockets</dc:title>
  <dc:creator>dzarro</dc:creator>
  <cp:lastModifiedBy>Dominic Zarro</cp:lastModifiedBy>
  <cp:revision>718</cp:revision>
  <cp:lastPrinted>2018-06-20T01:59:52Z</cp:lastPrinted>
  <dcterms:created xsi:type="dcterms:W3CDTF">2014-01-17T15:11:34Z</dcterms:created>
  <dcterms:modified xsi:type="dcterms:W3CDTF">2018-10-17T12:37:36Z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TC060888081033</vt:lpwstr>
  </property>
</Properties>
</file>